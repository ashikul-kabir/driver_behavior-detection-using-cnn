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2"/>
    <p:sldId id="257" r:id="rId3"/>
    <p:sldId id="266" r:id="rId4"/>
    <p:sldId id="258" r:id="rId5"/>
    <p:sldId id="259" r:id="rId6"/>
    <p:sldId id="260" r:id="rId7"/>
    <p:sldId id="267" r:id="rId8"/>
    <p:sldId id="268" r:id="rId9"/>
    <p:sldId id="269" r:id="rId10"/>
    <p:sldId id="261" r:id="rId11"/>
    <p:sldId id="262" r:id="rId12"/>
    <p:sldId id="270"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8C5D59-0642-770B-16D2-CA7C9AD5F62C}" v="155" dt="2024-06-15T05:26:38.2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08"/>
    <p:restoredTop sz="94796"/>
  </p:normalViewPr>
  <p:slideViewPr>
    <p:cSldViewPr snapToGrid="0">
      <p:cViewPr varScale="1">
        <p:scale>
          <a:sx n="117" d="100"/>
          <a:sy n="117" d="100"/>
        </p:scale>
        <p:origin x="61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7B545D-6EB7-4C85-B9E5-3124D36F411F}"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33695374-34A3-4F6C-BA81-183FC5D605C1}">
      <dgm:prSet/>
      <dgm:spPr/>
      <dgm:t>
        <a:bodyPr/>
        <a:lstStyle/>
        <a:p>
          <a:r>
            <a:rPr lang="en-US"/>
            <a:t>Dataset Description: The dataset consists of around 21500 images categorized into five classes: Safe driving, Talking on phone, Texting on phone, Turning, and Other activities.</a:t>
          </a:r>
          <a:br>
            <a:rPr lang="en-US"/>
          </a:br>
          <a:endParaRPr lang="en-US"/>
        </a:p>
      </dgm:t>
    </dgm:pt>
    <dgm:pt modelId="{3E44826A-3A6F-4CAD-BB9F-C56FFDE5EBA1}" type="parTrans" cxnId="{B601045D-B981-4C90-825D-DB3378D5F8D4}">
      <dgm:prSet/>
      <dgm:spPr/>
      <dgm:t>
        <a:bodyPr/>
        <a:lstStyle/>
        <a:p>
          <a:endParaRPr lang="en-US"/>
        </a:p>
      </dgm:t>
    </dgm:pt>
    <dgm:pt modelId="{8E366C56-A749-44AC-9718-0ECF5F02CE40}" type="sibTrans" cxnId="{B601045D-B981-4C90-825D-DB3378D5F8D4}">
      <dgm:prSet/>
      <dgm:spPr/>
      <dgm:t>
        <a:bodyPr/>
        <a:lstStyle/>
        <a:p>
          <a:endParaRPr lang="en-US"/>
        </a:p>
      </dgm:t>
    </dgm:pt>
    <dgm:pt modelId="{C5AC80F1-68AE-44B5-B8AB-9DF9C9F5E8C4}">
      <dgm:prSet/>
      <dgm:spPr/>
      <dgm:t>
        <a:bodyPr/>
        <a:lstStyle/>
        <a:p>
          <a:r>
            <a:rPr lang="en-US" dirty="0"/>
            <a:t>Data Sources: Images collected from various sources to represent different driver behaviors. The dataset can be located at Kaggle website.</a:t>
          </a:r>
          <a:br>
            <a:rPr lang="en-US" dirty="0"/>
          </a:br>
          <a:endParaRPr lang="en-US" dirty="0"/>
        </a:p>
      </dgm:t>
    </dgm:pt>
    <dgm:pt modelId="{29EF659B-0A50-4271-9A6A-F22B08C2B7AB}" type="parTrans" cxnId="{A8297154-E7CA-4422-80A0-DFBAC578FEA0}">
      <dgm:prSet/>
      <dgm:spPr/>
      <dgm:t>
        <a:bodyPr/>
        <a:lstStyle/>
        <a:p>
          <a:endParaRPr lang="en-US"/>
        </a:p>
      </dgm:t>
    </dgm:pt>
    <dgm:pt modelId="{AE5C9792-63F2-45F0-8227-7CBE211ACFC3}" type="sibTrans" cxnId="{A8297154-E7CA-4422-80A0-DFBAC578FEA0}">
      <dgm:prSet/>
      <dgm:spPr/>
      <dgm:t>
        <a:bodyPr/>
        <a:lstStyle/>
        <a:p>
          <a:endParaRPr lang="en-US"/>
        </a:p>
      </dgm:t>
    </dgm:pt>
    <dgm:pt modelId="{D6DF3F1A-E9DE-4E8D-9B3B-13A32707BBB5}">
      <dgm:prSet/>
      <dgm:spPr/>
      <dgm:t>
        <a:bodyPr/>
        <a:lstStyle/>
        <a:p>
          <a:r>
            <a:rPr lang="en-US" dirty="0"/>
            <a:t>Preprocessing Steps: Included resizing, cleaning, and data augmentation to enhance model performance.</a:t>
          </a:r>
        </a:p>
      </dgm:t>
    </dgm:pt>
    <dgm:pt modelId="{08BB3FB6-4C56-4C29-B8AD-08351ED62B96}" type="parTrans" cxnId="{BF5BD144-ECA2-43F8-8B08-A2423784A292}">
      <dgm:prSet/>
      <dgm:spPr/>
      <dgm:t>
        <a:bodyPr/>
        <a:lstStyle/>
        <a:p>
          <a:endParaRPr lang="en-US"/>
        </a:p>
      </dgm:t>
    </dgm:pt>
    <dgm:pt modelId="{3D5F307B-A260-4B34-B793-A17FAE61ABFF}" type="sibTrans" cxnId="{BF5BD144-ECA2-43F8-8B08-A2423784A292}">
      <dgm:prSet/>
      <dgm:spPr/>
      <dgm:t>
        <a:bodyPr/>
        <a:lstStyle/>
        <a:p>
          <a:endParaRPr lang="en-US"/>
        </a:p>
      </dgm:t>
    </dgm:pt>
    <dgm:pt modelId="{363DB878-4C14-BB4A-A389-D2753F329E06}" type="pres">
      <dgm:prSet presAssocID="{117B545D-6EB7-4C85-B9E5-3124D36F411F}" presName="linear" presStyleCnt="0">
        <dgm:presLayoutVars>
          <dgm:animLvl val="lvl"/>
          <dgm:resizeHandles val="exact"/>
        </dgm:presLayoutVars>
      </dgm:prSet>
      <dgm:spPr/>
    </dgm:pt>
    <dgm:pt modelId="{AF9CAD64-9FE9-D048-BE39-62EAE5855C18}" type="pres">
      <dgm:prSet presAssocID="{33695374-34A3-4F6C-BA81-183FC5D605C1}" presName="parentText" presStyleLbl="node1" presStyleIdx="0" presStyleCnt="3">
        <dgm:presLayoutVars>
          <dgm:chMax val="0"/>
          <dgm:bulletEnabled val="1"/>
        </dgm:presLayoutVars>
      </dgm:prSet>
      <dgm:spPr/>
    </dgm:pt>
    <dgm:pt modelId="{B8DF9645-E39C-114B-852D-A85FCC6FDE27}" type="pres">
      <dgm:prSet presAssocID="{8E366C56-A749-44AC-9718-0ECF5F02CE40}" presName="spacer" presStyleCnt="0"/>
      <dgm:spPr/>
    </dgm:pt>
    <dgm:pt modelId="{43B0A219-4D73-AC4D-9136-B3E205B9A0D3}" type="pres">
      <dgm:prSet presAssocID="{C5AC80F1-68AE-44B5-B8AB-9DF9C9F5E8C4}" presName="parentText" presStyleLbl="node1" presStyleIdx="1" presStyleCnt="3">
        <dgm:presLayoutVars>
          <dgm:chMax val="0"/>
          <dgm:bulletEnabled val="1"/>
        </dgm:presLayoutVars>
      </dgm:prSet>
      <dgm:spPr/>
    </dgm:pt>
    <dgm:pt modelId="{6E6CAF1D-B294-7847-9B91-D4A90804DB78}" type="pres">
      <dgm:prSet presAssocID="{AE5C9792-63F2-45F0-8227-7CBE211ACFC3}" presName="spacer" presStyleCnt="0"/>
      <dgm:spPr/>
    </dgm:pt>
    <dgm:pt modelId="{1C00E7C4-52AA-1745-AAA7-151DE6384B3D}" type="pres">
      <dgm:prSet presAssocID="{D6DF3F1A-E9DE-4E8D-9B3B-13A32707BBB5}" presName="parentText" presStyleLbl="node1" presStyleIdx="2" presStyleCnt="3">
        <dgm:presLayoutVars>
          <dgm:chMax val="0"/>
          <dgm:bulletEnabled val="1"/>
        </dgm:presLayoutVars>
      </dgm:prSet>
      <dgm:spPr/>
    </dgm:pt>
  </dgm:ptLst>
  <dgm:cxnLst>
    <dgm:cxn modelId="{BF5BD144-ECA2-43F8-8B08-A2423784A292}" srcId="{117B545D-6EB7-4C85-B9E5-3124D36F411F}" destId="{D6DF3F1A-E9DE-4E8D-9B3B-13A32707BBB5}" srcOrd="2" destOrd="0" parTransId="{08BB3FB6-4C56-4C29-B8AD-08351ED62B96}" sibTransId="{3D5F307B-A260-4B34-B793-A17FAE61ABFF}"/>
    <dgm:cxn modelId="{0BDEFF4F-D1E3-0045-B584-C7917CFB8556}" type="presOf" srcId="{33695374-34A3-4F6C-BA81-183FC5D605C1}" destId="{AF9CAD64-9FE9-D048-BE39-62EAE5855C18}" srcOrd="0" destOrd="0" presId="urn:microsoft.com/office/officeart/2005/8/layout/vList2"/>
    <dgm:cxn modelId="{E7F37752-CEA0-1B4F-B4EF-0EB33178F3A8}" type="presOf" srcId="{117B545D-6EB7-4C85-B9E5-3124D36F411F}" destId="{363DB878-4C14-BB4A-A389-D2753F329E06}" srcOrd="0" destOrd="0" presId="urn:microsoft.com/office/officeart/2005/8/layout/vList2"/>
    <dgm:cxn modelId="{A8297154-E7CA-4422-80A0-DFBAC578FEA0}" srcId="{117B545D-6EB7-4C85-B9E5-3124D36F411F}" destId="{C5AC80F1-68AE-44B5-B8AB-9DF9C9F5E8C4}" srcOrd="1" destOrd="0" parTransId="{29EF659B-0A50-4271-9A6A-F22B08C2B7AB}" sibTransId="{AE5C9792-63F2-45F0-8227-7CBE211ACFC3}"/>
    <dgm:cxn modelId="{B601045D-B981-4C90-825D-DB3378D5F8D4}" srcId="{117B545D-6EB7-4C85-B9E5-3124D36F411F}" destId="{33695374-34A3-4F6C-BA81-183FC5D605C1}" srcOrd="0" destOrd="0" parTransId="{3E44826A-3A6F-4CAD-BB9F-C56FFDE5EBA1}" sibTransId="{8E366C56-A749-44AC-9718-0ECF5F02CE40}"/>
    <dgm:cxn modelId="{65EE3CCC-6274-424D-A6A0-57158109AEBF}" type="presOf" srcId="{D6DF3F1A-E9DE-4E8D-9B3B-13A32707BBB5}" destId="{1C00E7C4-52AA-1745-AAA7-151DE6384B3D}" srcOrd="0" destOrd="0" presId="urn:microsoft.com/office/officeart/2005/8/layout/vList2"/>
    <dgm:cxn modelId="{B135BEEB-0D6E-384A-929B-256892C6B1C0}" type="presOf" srcId="{C5AC80F1-68AE-44B5-B8AB-9DF9C9F5E8C4}" destId="{43B0A219-4D73-AC4D-9136-B3E205B9A0D3}" srcOrd="0" destOrd="0" presId="urn:microsoft.com/office/officeart/2005/8/layout/vList2"/>
    <dgm:cxn modelId="{977BD469-866C-B943-91CE-4E6CC16992F4}" type="presParOf" srcId="{363DB878-4C14-BB4A-A389-D2753F329E06}" destId="{AF9CAD64-9FE9-D048-BE39-62EAE5855C18}" srcOrd="0" destOrd="0" presId="urn:microsoft.com/office/officeart/2005/8/layout/vList2"/>
    <dgm:cxn modelId="{48B4FB3B-FCF7-D549-A748-822AB84AD927}" type="presParOf" srcId="{363DB878-4C14-BB4A-A389-D2753F329E06}" destId="{B8DF9645-E39C-114B-852D-A85FCC6FDE27}" srcOrd="1" destOrd="0" presId="urn:microsoft.com/office/officeart/2005/8/layout/vList2"/>
    <dgm:cxn modelId="{0EEBF07F-AD4E-A74D-8EFA-B9F887DFF1D2}" type="presParOf" srcId="{363DB878-4C14-BB4A-A389-D2753F329E06}" destId="{43B0A219-4D73-AC4D-9136-B3E205B9A0D3}" srcOrd="2" destOrd="0" presId="urn:microsoft.com/office/officeart/2005/8/layout/vList2"/>
    <dgm:cxn modelId="{60D32599-2AEA-0C40-B044-19A7503EB90C}" type="presParOf" srcId="{363DB878-4C14-BB4A-A389-D2753F329E06}" destId="{6E6CAF1D-B294-7847-9B91-D4A90804DB78}" srcOrd="3" destOrd="0" presId="urn:microsoft.com/office/officeart/2005/8/layout/vList2"/>
    <dgm:cxn modelId="{F737BE08-491A-7145-8341-41C431D95EF3}" type="presParOf" srcId="{363DB878-4C14-BB4A-A389-D2753F329E06}" destId="{1C00E7C4-52AA-1745-AAA7-151DE6384B3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CAD64-9FE9-D048-BE39-62EAE5855C18}">
      <dsp:nvSpPr>
        <dsp:cNvPr id="0" name=""/>
        <dsp:cNvSpPr/>
      </dsp:nvSpPr>
      <dsp:spPr>
        <a:xfrm>
          <a:off x="0" y="418325"/>
          <a:ext cx="6666833" cy="149877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Dataset Description: The dataset consists of around 21500 images categorized into five classes: Safe driving, Talking on phone, Texting on phone, Turning, and Other activities.</a:t>
          </a:r>
          <a:br>
            <a:rPr lang="en-US" sz="2100" kern="1200"/>
          </a:br>
          <a:endParaRPr lang="en-US" sz="2100" kern="1200"/>
        </a:p>
      </dsp:txBody>
      <dsp:txXfrm>
        <a:off x="73164" y="491489"/>
        <a:ext cx="6520505" cy="1352442"/>
      </dsp:txXfrm>
    </dsp:sp>
    <dsp:sp modelId="{43B0A219-4D73-AC4D-9136-B3E205B9A0D3}">
      <dsp:nvSpPr>
        <dsp:cNvPr id="0" name=""/>
        <dsp:cNvSpPr/>
      </dsp:nvSpPr>
      <dsp:spPr>
        <a:xfrm>
          <a:off x="0" y="1977575"/>
          <a:ext cx="6666833" cy="149877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Data Sources: Images collected from various sources to represent different driver behaviors. The dataset can be located at Kaggle website.</a:t>
          </a:r>
          <a:br>
            <a:rPr lang="en-US" sz="2100" kern="1200" dirty="0"/>
          </a:br>
          <a:endParaRPr lang="en-US" sz="2100" kern="1200" dirty="0"/>
        </a:p>
      </dsp:txBody>
      <dsp:txXfrm>
        <a:off x="73164" y="2050739"/>
        <a:ext cx="6520505" cy="1352442"/>
      </dsp:txXfrm>
    </dsp:sp>
    <dsp:sp modelId="{1C00E7C4-52AA-1745-AAA7-151DE6384B3D}">
      <dsp:nvSpPr>
        <dsp:cNvPr id="0" name=""/>
        <dsp:cNvSpPr/>
      </dsp:nvSpPr>
      <dsp:spPr>
        <a:xfrm>
          <a:off x="0" y="3536825"/>
          <a:ext cx="6666833" cy="149877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Preprocessing Steps: Included resizing, cleaning, and data augmentation to enhance model performance.</a:t>
          </a:r>
        </a:p>
      </dsp:txBody>
      <dsp:txXfrm>
        <a:off x="73164" y="3609989"/>
        <a:ext cx="6520505" cy="135244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FFEE9-5F0C-2DCC-D034-7DB6BDDCAE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BC39CE-564E-587C-870D-CDF20DB62A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FE6E73-DF6C-B95F-6A26-9685164BD054}"/>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5" name="Footer Placeholder 4">
            <a:extLst>
              <a:ext uri="{FF2B5EF4-FFF2-40B4-BE49-F238E27FC236}">
                <a16:creationId xmlns:a16="http://schemas.microsoft.com/office/drawing/2014/main" id="{29BF3297-3074-BFF1-95B2-E2DD86F286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831D36-4190-8E2D-7CDA-EDDEA63A2B8E}"/>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3866773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E25B4-4477-2C4E-93B2-BD604BB172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627224-FA23-30A1-5FC3-324FC4A8B0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11194D-F4E0-8FB2-DFA3-1B7562601D30}"/>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5" name="Footer Placeholder 4">
            <a:extLst>
              <a:ext uri="{FF2B5EF4-FFF2-40B4-BE49-F238E27FC236}">
                <a16:creationId xmlns:a16="http://schemas.microsoft.com/office/drawing/2014/main" id="{CEE9C73B-E8EF-FC94-0B30-9E383E7673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5472E1-0178-2EA9-BF98-9E11FECC33F8}"/>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2672609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D12-78B6-D62A-3D8B-87CB3D056C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C2E7B4-0376-C92C-9035-B61A0F877C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B2956A-9053-4A95-7ED3-93CC7F00E322}"/>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5" name="Footer Placeholder 4">
            <a:extLst>
              <a:ext uri="{FF2B5EF4-FFF2-40B4-BE49-F238E27FC236}">
                <a16:creationId xmlns:a16="http://schemas.microsoft.com/office/drawing/2014/main" id="{0AC84965-4F5B-2860-9599-944FD412B3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86A8C2-FDCD-ECEF-75C8-E66F5EEB96A4}"/>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250257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4DD50-0588-B1B6-0E67-2327237EC2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A89210-6263-56BB-3E02-07F88CBF18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C119D2-BB7A-CC39-C3BF-3C6EB9119E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0D8DE8-B35A-2847-D6C5-4A6F2CFD8EB5}"/>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6" name="Footer Placeholder 5">
            <a:extLst>
              <a:ext uri="{FF2B5EF4-FFF2-40B4-BE49-F238E27FC236}">
                <a16:creationId xmlns:a16="http://schemas.microsoft.com/office/drawing/2014/main" id="{643DAFB9-4E11-016D-BD00-8AF7AABFE6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FCE7AE-FB1A-B701-64DE-AEA1CB9853AE}"/>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2378235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492F1-D702-9669-5C37-1C8F2375D2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F3D595-5B47-7B80-92E5-3443A0A7E8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0775F1-1791-F4CD-9606-7028F3D662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7A8F96-4AB3-CA65-243B-18C8E09A10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2F982C-3C24-ECA1-A171-0258BD898C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1A5F68-1B47-5D38-7E0F-C6D83A4305D6}"/>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8" name="Footer Placeholder 7">
            <a:extLst>
              <a:ext uri="{FF2B5EF4-FFF2-40B4-BE49-F238E27FC236}">
                <a16:creationId xmlns:a16="http://schemas.microsoft.com/office/drawing/2014/main" id="{B10EBD82-FF19-70AF-8829-0BA12A8C0A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1243B1-9541-BBBA-C434-E8BF6A6861AF}"/>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4170284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5E30-9F28-E456-80C2-A2AA8ABF1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66F193-EFCE-9E97-CEF5-335538A5B2D4}"/>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4" name="Footer Placeholder 3">
            <a:extLst>
              <a:ext uri="{FF2B5EF4-FFF2-40B4-BE49-F238E27FC236}">
                <a16:creationId xmlns:a16="http://schemas.microsoft.com/office/drawing/2014/main" id="{50B702DA-7741-DAA3-6DFB-E590371CE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732BCA-8F22-8344-7274-2D92E8ECAC70}"/>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3207358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6E91F1-3D76-851D-25F2-9276ABDE129F}"/>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3" name="Footer Placeholder 2">
            <a:extLst>
              <a:ext uri="{FF2B5EF4-FFF2-40B4-BE49-F238E27FC236}">
                <a16:creationId xmlns:a16="http://schemas.microsoft.com/office/drawing/2014/main" id="{B1B58C25-BD0B-4BA9-0D09-E93BC072DE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A90B7A-40FE-6D38-5C35-E8DDAE066FED}"/>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1428238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071C-241E-A66C-64C3-07E7C9507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5C8FCB-F2CD-7684-C262-2D8959AB8E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E1E537-D9E1-690C-D65D-DD2D5D7FAF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67105F-3B6C-0D1C-07E0-34EB85AF64CB}"/>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6" name="Footer Placeholder 5">
            <a:extLst>
              <a:ext uri="{FF2B5EF4-FFF2-40B4-BE49-F238E27FC236}">
                <a16:creationId xmlns:a16="http://schemas.microsoft.com/office/drawing/2014/main" id="{201C4F09-B494-6A46-215C-2FBB5C9737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08CD45-EEE5-9895-1A85-BDB03FFE5D4E}"/>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1182671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46A14-397E-31F5-4A92-0924551D96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90E512-657B-44AE-2265-DB8D7DD8CF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0AEFC3-F676-5CA4-6AEF-AE4407E53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41C994-0762-8CED-777D-52F961B2DF5A}"/>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6" name="Footer Placeholder 5">
            <a:extLst>
              <a:ext uri="{FF2B5EF4-FFF2-40B4-BE49-F238E27FC236}">
                <a16:creationId xmlns:a16="http://schemas.microsoft.com/office/drawing/2014/main" id="{46AEAF74-0700-0D04-26A6-9FF37DD603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558265-D0D4-F510-D8D0-51707202D596}"/>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1732742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7D9DD-7654-CF90-5F30-DDE1B9AEE2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B06059-010C-80C1-034E-3793A35890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697F16-69C1-47AF-91C0-BA7399C7144B}"/>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5" name="Footer Placeholder 4">
            <a:extLst>
              <a:ext uri="{FF2B5EF4-FFF2-40B4-BE49-F238E27FC236}">
                <a16:creationId xmlns:a16="http://schemas.microsoft.com/office/drawing/2014/main" id="{959DAD89-B607-BF5A-76AA-F56FDF6F80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E784A-243A-FA86-D135-E1151E8B2E23}"/>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621588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77136-458D-F775-E948-31A3FB56E6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CCBB76-F02A-85D5-5B89-192E831217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9163C7-7268-61A8-94FB-04C6DF0C0794}"/>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5" name="Footer Placeholder 4">
            <a:extLst>
              <a:ext uri="{FF2B5EF4-FFF2-40B4-BE49-F238E27FC236}">
                <a16:creationId xmlns:a16="http://schemas.microsoft.com/office/drawing/2014/main" id="{0DEE783C-C2E9-4E4B-F96A-C8C23AA060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5AB1B-0826-F7DC-2AAD-985BAC778B23}"/>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2963152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804C4-2926-A204-D226-BF24BA494644}"/>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A7207B2-0B92-CBD6-C2E7-927373873DFE}"/>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A2B8F7-ABCA-54E9-9007-2736AE50F3A0}"/>
              </a:ext>
            </a:extLst>
          </p:cNvPr>
          <p:cNvSpPr>
            <a:spLocks noGrp="1"/>
          </p:cNvSpPr>
          <p:nvPr>
            <p:ph type="dt" sz="half" idx="10"/>
          </p:nvPr>
        </p:nvSpPr>
        <p:spPr/>
        <p:txBody>
          <a:bodyPr/>
          <a:lstStyle/>
          <a:p>
            <a:fld id="{DACA032E-641F-8B43-A175-25335B11AE86}" type="datetimeFigureOut">
              <a:rPr lang="en-US" smtClean="0"/>
              <a:t>3/13/26</a:t>
            </a:fld>
            <a:endParaRPr lang="en-US"/>
          </a:p>
        </p:txBody>
      </p:sp>
      <p:sp>
        <p:nvSpPr>
          <p:cNvPr id="5" name="Footer Placeholder 4">
            <a:extLst>
              <a:ext uri="{FF2B5EF4-FFF2-40B4-BE49-F238E27FC236}">
                <a16:creationId xmlns:a16="http://schemas.microsoft.com/office/drawing/2014/main" id="{B11083CD-C398-1F3C-C4CB-3BEDF25429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A8E7B-4647-B082-7ECE-261088DCBBC9}"/>
              </a:ext>
            </a:extLst>
          </p:cNvPr>
          <p:cNvSpPr>
            <a:spLocks noGrp="1"/>
          </p:cNvSpPr>
          <p:nvPr>
            <p:ph type="sldNum" sz="quarter" idx="12"/>
          </p:nvPr>
        </p:nvSpPr>
        <p:spPr/>
        <p:txBody>
          <a:bodyPr/>
          <a:lstStyle/>
          <a:p>
            <a:fld id="{CD679A26-4223-1744-B597-8EF3C2D331E9}" type="slidenum">
              <a:rPr lang="en-US" smtClean="0"/>
              <a:t>‹#›</a:t>
            </a:fld>
            <a:endParaRPr lang="en-US"/>
          </a:p>
        </p:txBody>
      </p:sp>
    </p:spTree>
    <p:extLst>
      <p:ext uri="{BB962C8B-B14F-4D97-AF65-F5344CB8AC3E}">
        <p14:creationId xmlns:p14="http://schemas.microsoft.com/office/powerpoint/2010/main" val="4153408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0BD2DD-CF30-5E2B-9FD8-50DA033A87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797C6C-834D-3001-8059-798CBD9AFB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58CBC1-4A93-E72D-DD1F-F9D883E5BC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CA032E-641F-8B43-A175-25335B11AE86}" type="datetimeFigureOut">
              <a:rPr lang="en-US" smtClean="0"/>
              <a:t>3/13/26</a:t>
            </a:fld>
            <a:endParaRPr lang="en-US"/>
          </a:p>
        </p:txBody>
      </p:sp>
      <p:sp>
        <p:nvSpPr>
          <p:cNvPr id="5" name="Footer Placeholder 4">
            <a:extLst>
              <a:ext uri="{FF2B5EF4-FFF2-40B4-BE49-F238E27FC236}">
                <a16:creationId xmlns:a16="http://schemas.microsoft.com/office/drawing/2014/main" id="{1F80DEB4-B1DC-FB49-B679-0DBED6F0AD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B0A7E8-DFE5-CEB3-AF3A-29543DC75B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679A26-4223-1744-B597-8EF3C2D331E9}" type="slidenum">
              <a:rPr lang="en-US" smtClean="0"/>
              <a:t>‹#›</a:t>
            </a:fld>
            <a:endParaRPr lang="en-US"/>
          </a:p>
        </p:txBody>
      </p:sp>
    </p:spTree>
    <p:extLst>
      <p:ext uri="{BB962C8B-B14F-4D97-AF65-F5344CB8AC3E}">
        <p14:creationId xmlns:p14="http://schemas.microsoft.com/office/powerpoint/2010/main" val="3200703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viso.ai/wp-content/uploads/2024/04/alexNet-architecture.png" TargetMode="External"/><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assets-global.website-files.com/645cec60ffb18d5ebb37da4b/65eb303c9ee4b67135628e9a_archi.jpg" TargetMode="External"/><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iq.opengenus.org/content/images/2019/01/vgg_layers.png" TargetMode="External"/><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0">
            <a:extLst>
              <a:ext uri="{FF2B5EF4-FFF2-40B4-BE49-F238E27FC236}">
                <a16:creationId xmlns:a16="http://schemas.microsoft.com/office/drawing/2014/main" id="{FB33DC6A-1F1C-4A06-834E-CFF88F1C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0" name="Freeform: Shape 1032">
            <a:extLst>
              <a:ext uri="{FF2B5EF4-FFF2-40B4-BE49-F238E27FC236}">
                <a16:creationId xmlns:a16="http://schemas.microsoft.com/office/drawing/2014/main" id="{0FE1D5CF-87B8-4A8A-AD3C-01D06A607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08641"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41" name="Freeform: Shape 1034">
            <a:extLst>
              <a:ext uri="{FF2B5EF4-FFF2-40B4-BE49-F238E27FC236}">
                <a16:creationId xmlns:a16="http://schemas.microsoft.com/office/drawing/2014/main" id="{60926200-45C2-41E9-839F-31CD5FE4C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03325"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C57F2A4-9D79-AE62-970B-986C3931AFE9}"/>
              </a:ext>
            </a:extLst>
          </p:cNvPr>
          <p:cNvSpPr>
            <a:spLocks noGrp="1"/>
          </p:cNvSpPr>
          <p:nvPr>
            <p:ph type="ctrTitle"/>
          </p:nvPr>
        </p:nvSpPr>
        <p:spPr>
          <a:xfrm>
            <a:off x="489098" y="1106034"/>
            <a:ext cx="5019074" cy="3204134"/>
          </a:xfrm>
        </p:spPr>
        <p:txBody>
          <a:bodyPr anchor="b">
            <a:normAutofit/>
          </a:bodyPr>
          <a:lstStyle/>
          <a:p>
            <a:pPr algn="l"/>
            <a:r>
              <a:rPr lang="en-US" sz="5400" b="0" i="0" dirty="0">
                <a:effectLst/>
                <a:latin typeface="Times New Roman" panose="02020603050405020304" pitchFamily="18" charset="0"/>
                <a:cs typeface="Times New Roman" panose="02020603050405020304" pitchFamily="18" charset="0"/>
              </a:rPr>
              <a:t>Driver Behavior Detection using CNN</a:t>
            </a:r>
            <a:endParaRPr lang="en-US"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60F56CD-CAC9-5E43-BE57-E79429AB61C8}"/>
              </a:ext>
            </a:extLst>
          </p:cNvPr>
          <p:cNvSpPr>
            <a:spLocks noGrp="1"/>
          </p:cNvSpPr>
          <p:nvPr>
            <p:ph type="subTitle" idx="1"/>
          </p:nvPr>
        </p:nvSpPr>
        <p:spPr>
          <a:xfrm>
            <a:off x="494124" y="4872922"/>
            <a:ext cx="5013698" cy="1208141"/>
          </a:xfrm>
        </p:spPr>
        <p:txBody>
          <a:bodyPr>
            <a:normAutofit/>
          </a:bodyPr>
          <a:lstStyle/>
          <a:p>
            <a:pPr algn="l"/>
            <a:r>
              <a:rPr lang="en-US" i="0" dirty="0">
                <a:effectLst/>
                <a:latin typeface="Times New Roman" panose="02020603050405020304" pitchFamily="18" charset="0"/>
                <a:cs typeface="Times New Roman" panose="02020603050405020304" pitchFamily="18" charset="0"/>
              </a:rPr>
              <a:t>A Machine Learning Approach to Enhance Road Safety</a:t>
            </a:r>
          </a:p>
          <a:p>
            <a:pPr algn="l"/>
            <a:r>
              <a:rPr lang="en-US" b="1" i="0" dirty="0">
                <a:effectLst/>
                <a:latin typeface="Times New Roman" panose="02020603050405020304" pitchFamily="18" charset="0"/>
                <a:cs typeface="Times New Roman" panose="02020603050405020304" pitchFamily="18" charset="0"/>
              </a:rPr>
              <a:t>Presented </a:t>
            </a:r>
            <a:r>
              <a:rPr lang="en-US" b="1" dirty="0">
                <a:latin typeface="Times New Roman" panose="02020603050405020304" pitchFamily="18" charset="0"/>
                <a:cs typeface="Times New Roman" panose="02020603050405020304" pitchFamily="18" charset="0"/>
              </a:rPr>
              <a:t>B</a:t>
            </a:r>
            <a:r>
              <a:rPr lang="en-US" b="1" i="0" dirty="0">
                <a:effectLst/>
                <a:latin typeface="Times New Roman" panose="02020603050405020304" pitchFamily="18" charset="0"/>
                <a:cs typeface="Times New Roman" panose="02020603050405020304" pitchFamily="18" charset="0"/>
              </a:rPr>
              <a:t>y:</a:t>
            </a:r>
            <a:r>
              <a:rPr lang="en-US" i="0" dirty="0">
                <a:effectLst/>
                <a:latin typeface="Times New Roman" panose="02020603050405020304" pitchFamily="18" charset="0"/>
                <a:cs typeface="Times New Roman" panose="02020603050405020304" pitchFamily="18" charset="0"/>
              </a:rPr>
              <a:t> </a:t>
            </a:r>
            <a:r>
              <a:rPr lang="en-US" i="0" dirty="0" err="1">
                <a:effectLst/>
                <a:latin typeface="Times New Roman" panose="02020603050405020304" pitchFamily="18" charset="0"/>
                <a:cs typeface="Times New Roman" panose="02020603050405020304" pitchFamily="18" charset="0"/>
              </a:rPr>
              <a:t>Ashikul</a:t>
            </a:r>
            <a:r>
              <a:rPr lang="en-US" i="0" dirty="0">
                <a:effectLst/>
                <a:latin typeface="Times New Roman" panose="02020603050405020304" pitchFamily="18" charset="0"/>
                <a:cs typeface="Times New Roman" panose="02020603050405020304" pitchFamily="18" charset="0"/>
              </a:rPr>
              <a:t> Kabir</a:t>
            </a:r>
            <a:endParaRPr lang="en-US" dirty="0">
              <a:latin typeface="Times New Roman" panose="02020603050405020304" pitchFamily="18" charset="0"/>
              <a:cs typeface="Times New Roman" panose="02020603050405020304" pitchFamily="18" charset="0"/>
            </a:endParaRPr>
          </a:p>
        </p:txBody>
      </p:sp>
      <p:sp>
        <p:nvSpPr>
          <p:cNvPr id="1037" name="Rectangle 103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1D7A55F0-5986-734A-9298-CD66F5A871FC}"/>
              </a:ext>
            </a:extLst>
          </p:cNvPr>
          <p:cNvPicPr>
            <a:picLocks noChangeAspect="1"/>
          </p:cNvPicPr>
          <p:nvPr/>
        </p:nvPicPr>
        <p:blipFill>
          <a:blip r:embed="rId2"/>
          <a:stretch>
            <a:fillRect/>
          </a:stretch>
        </p:blipFill>
        <p:spPr>
          <a:xfrm>
            <a:off x="6994071" y="1073175"/>
            <a:ext cx="4708831" cy="1848216"/>
          </a:xfrm>
          <a:prstGeom prst="rect">
            <a:avLst/>
          </a:prstGeom>
        </p:spPr>
      </p:pic>
      <p:sp>
        <p:nvSpPr>
          <p:cNvPr id="1039" name="Rectangle 103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098" y="4546920"/>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9055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F392143-CA37-0FEA-4793-09F5B66D95B3}"/>
              </a:ext>
            </a:extLst>
          </p:cNvPr>
          <p:cNvSpPr>
            <a:spLocks noGrp="1"/>
          </p:cNvSpPr>
          <p:nvPr>
            <p:ph type="title"/>
          </p:nvPr>
        </p:nvSpPr>
        <p:spPr>
          <a:xfrm>
            <a:off x="621792" y="1161288"/>
            <a:ext cx="3602736" cy="4526280"/>
          </a:xfrm>
        </p:spPr>
        <p:txBody>
          <a:bodyPr vert="horz" lIns="91440" tIns="45720" rIns="91440" bIns="45720" rtlCol="0" anchor="ctr">
            <a:normAutofit/>
          </a:bodyPr>
          <a:lstStyle/>
          <a:p>
            <a:r>
              <a:rPr lang="en-US" sz="4000" kern="1200">
                <a:solidFill>
                  <a:schemeClr val="tx1"/>
                </a:solidFill>
                <a:latin typeface="+mj-lt"/>
                <a:ea typeface="+mj-ea"/>
                <a:cs typeface="+mj-cs"/>
              </a:rPr>
              <a:t>Project Overview</a:t>
            </a:r>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BBFE9BC2-24A2-C94F-C1A3-D6BE3D213F04}"/>
              </a:ext>
            </a:extLst>
          </p:cNvPr>
          <p:cNvSpPr>
            <a:spLocks noGrp="1"/>
          </p:cNvSpPr>
          <p:nvPr>
            <p:ph type="body" idx="1"/>
          </p:nvPr>
        </p:nvSpPr>
        <p:spPr>
          <a:xfrm>
            <a:off x="5434149" y="932688"/>
            <a:ext cx="5916603" cy="4992624"/>
          </a:xfrm>
        </p:spPr>
        <p:txBody>
          <a:bodyPr vert="horz" lIns="91440" tIns="45720" rIns="91440" bIns="45720" rtlCol="0" anchor="ctr">
            <a:normAutofit/>
          </a:bodyPr>
          <a:lstStyle/>
          <a:p>
            <a:r>
              <a:rPr lang="en-US" sz="2000" dirty="0"/>
              <a:t>Brief introduction to the problem of driver behavior detection</a:t>
            </a:r>
            <a:br>
              <a:rPr lang="en-US" sz="2000" dirty="0"/>
            </a:br>
            <a:endParaRPr lang="en-US" sz="2000" dirty="0"/>
          </a:p>
          <a:p>
            <a:r>
              <a:rPr lang="en-US" sz="2000" dirty="0"/>
              <a:t>Importance of detecting unsafe behaviors to prevent accidents</a:t>
            </a:r>
            <a:br>
              <a:rPr lang="en-US" sz="2000" dirty="0"/>
            </a:br>
            <a:endParaRPr lang="en-US" sz="2000" dirty="0"/>
          </a:p>
          <a:p>
            <a:r>
              <a:rPr lang="en-US" sz="2000" dirty="0"/>
              <a:t>Overview of the project's objectives and goals</a:t>
            </a:r>
          </a:p>
        </p:txBody>
      </p:sp>
    </p:spTree>
    <p:extLst>
      <p:ext uri="{BB962C8B-B14F-4D97-AF65-F5344CB8AC3E}">
        <p14:creationId xmlns:p14="http://schemas.microsoft.com/office/powerpoint/2010/main" val="347414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8ACE7C-A27D-E44B-BEC9-B244B8F9481C}"/>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a:solidFill>
                  <a:srgbClr val="FFFFFF"/>
                </a:solidFill>
                <a:latin typeface="+mj-lt"/>
                <a:ea typeface="+mj-ea"/>
                <a:cs typeface="+mj-cs"/>
              </a:rPr>
              <a:t>Significance of the Topic</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F31262AE-95A4-004E-9C99-EADD3102F08D}"/>
              </a:ext>
            </a:extLst>
          </p:cNvPr>
          <p:cNvSpPr>
            <a:spLocks noGrp="1"/>
          </p:cNvSpPr>
          <p:nvPr>
            <p:ph type="body" idx="1"/>
          </p:nvPr>
        </p:nvSpPr>
        <p:spPr>
          <a:xfrm>
            <a:off x="4447308" y="591344"/>
            <a:ext cx="6906491" cy="5585619"/>
          </a:xfrm>
        </p:spPr>
        <p:txBody>
          <a:bodyPr vert="horz" lIns="91440" tIns="45720" rIns="91440" bIns="45720" rtlCol="0" anchor="ctr">
            <a:normAutofit/>
          </a:bodyPr>
          <a:lstStyle/>
          <a:p>
            <a:r>
              <a:rPr lang="en-US" dirty="0"/>
              <a:t>Driver behavior detection is important because:</a:t>
            </a:r>
          </a:p>
          <a:p>
            <a:pPr lvl="1"/>
            <a:r>
              <a:rPr lang="en-US" dirty="0"/>
              <a:t>It helps to identify potential cybersecurity threats by tracking user behavior and data access activities. </a:t>
            </a:r>
          </a:p>
          <a:p>
            <a:pPr lvl="1"/>
            <a:r>
              <a:rPr lang="en-US" dirty="0"/>
              <a:t>By analyzing both user behavior and data access activities, a behavior analytics tool can create a contextual behavior baseline to help discern behaviors that are abnormal and accurately identify critical safety threats.</a:t>
            </a:r>
          </a:p>
        </p:txBody>
      </p:sp>
    </p:spTree>
    <p:extLst>
      <p:ext uri="{BB962C8B-B14F-4D97-AF65-F5344CB8AC3E}">
        <p14:creationId xmlns:p14="http://schemas.microsoft.com/office/powerpoint/2010/main" val="1105011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5F5C7F-42DF-DB66-ABC3-AB014BC150D0}"/>
              </a:ext>
            </a:extLst>
          </p:cNvPr>
          <p:cNvSpPr>
            <a:spLocks noGrp="1"/>
          </p:cNvSpPr>
          <p:nvPr>
            <p:ph type="title"/>
          </p:nvPr>
        </p:nvSpPr>
        <p:spPr>
          <a:xfrm>
            <a:off x="586478" y="1683756"/>
            <a:ext cx="3115265" cy="2396359"/>
          </a:xfrm>
        </p:spPr>
        <p:txBody>
          <a:bodyPr vert="horz" lIns="91440" tIns="45720" rIns="91440" bIns="45720" rtlCol="0" anchor="b">
            <a:normAutofit/>
          </a:bodyPr>
          <a:lstStyle/>
          <a:p>
            <a:pPr algn="r"/>
            <a:r>
              <a:rPr lang="en-US" sz="4000" kern="1200">
                <a:solidFill>
                  <a:srgbClr val="FFFFFF"/>
                </a:solidFill>
                <a:latin typeface="+mj-lt"/>
                <a:ea typeface="+mj-ea"/>
                <a:cs typeface="+mj-cs"/>
              </a:rPr>
              <a:t>Data Collection and Preparation</a:t>
            </a:r>
          </a:p>
        </p:txBody>
      </p:sp>
      <p:graphicFrame>
        <p:nvGraphicFramePr>
          <p:cNvPr id="7" name="Text Placeholder 2">
            <a:extLst>
              <a:ext uri="{FF2B5EF4-FFF2-40B4-BE49-F238E27FC236}">
                <a16:creationId xmlns:a16="http://schemas.microsoft.com/office/drawing/2014/main" id="{1954ED1B-FF53-E075-CF3D-C9944BD68F16}"/>
              </a:ext>
            </a:extLst>
          </p:cNvPr>
          <p:cNvGraphicFramePr/>
          <p:nvPr>
            <p:extLst>
              <p:ext uri="{D42A27DB-BD31-4B8C-83A1-F6EECF244321}">
                <p14:modId xmlns:p14="http://schemas.microsoft.com/office/powerpoint/2010/main" val="180649202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2364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36">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6" name="Freeform: Shape 38">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7" name="Freeform: Shape 40">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9DC944-5753-1588-2672-35FAEB089948}"/>
              </a:ext>
            </a:extLst>
          </p:cNvPr>
          <p:cNvSpPr>
            <a:spLocks noGrp="1"/>
          </p:cNvSpPr>
          <p:nvPr>
            <p:ph type="title"/>
          </p:nvPr>
        </p:nvSpPr>
        <p:spPr>
          <a:xfrm>
            <a:off x="621792" y="1161288"/>
            <a:ext cx="3602736" cy="4526280"/>
          </a:xfrm>
        </p:spPr>
        <p:txBody>
          <a:bodyPr vert="horz" lIns="91440" tIns="45720" rIns="91440" bIns="45720" rtlCol="0" anchor="ctr">
            <a:normAutofit/>
          </a:bodyPr>
          <a:lstStyle/>
          <a:p>
            <a:r>
              <a:rPr lang="en-US" sz="4000" kern="1200">
                <a:solidFill>
                  <a:schemeClr val="tx1"/>
                </a:solidFill>
                <a:latin typeface="+mj-lt"/>
                <a:ea typeface="+mj-ea"/>
                <a:cs typeface="+mj-cs"/>
              </a:rPr>
              <a:t>Data Preprocessing Techniques</a:t>
            </a:r>
          </a:p>
        </p:txBody>
      </p:sp>
      <p:sp>
        <p:nvSpPr>
          <p:cNvPr id="48" name="Rectangle 42">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Text Placeholder 2">
            <a:extLst>
              <a:ext uri="{FF2B5EF4-FFF2-40B4-BE49-F238E27FC236}">
                <a16:creationId xmlns:a16="http://schemas.microsoft.com/office/drawing/2014/main" id="{C9E44076-9678-AC1C-98C8-2609250E64C5}"/>
              </a:ext>
            </a:extLst>
          </p:cNvPr>
          <p:cNvSpPr>
            <a:spLocks noGrp="1"/>
          </p:cNvSpPr>
          <p:nvPr>
            <p:ph type="body" idx="1"/>
          </p:nvPr>
        </p:nvSpPr>
        <p:spPr>
          <a:xfrm>
            <a:off x="5434149" y="932688"/>
            <a:ext cx="5916603" cy="4992624"/>
          </a:xfrm>
        </p:spPr>
        <p:txBody>
          <a:bodyPr vert="horz" lIns="91440" tIns="45720" rIns="91440" bIns="45720" rtlCol="0" anchor="ctr">
            <a:normAutofit/>
          </a:bodyPr>
          <a:lstStyle/>
          <a:p>
            <a:r>
              <a:rPr lang="en-US" sz="2400" b="1" dirty="0"/>
              <a:t>Tools Used: </a:t>
            </a:r>
            <a:r>
              <a:rPr lang="en-US" sz="2000" dirty="0"/>
              <a:t>OpenCV for image processing.</a:t>
            </a:r>
            <a:br>
              <a:rPr lang="en-US" sz="2000" dirty="0"/>
            </a:br>
            <a:endParaRPr lang="en-US" sz="2000" dirty="0"/>
          </a:p>
          <a:p>
            <a:r>
              <a:rPr lang="en-US" sz="2400" dirty="0"/>
              <a:t>Steps Involved:</a:t>
            </a:r>
            <a:br>
              <a:rPr lang="en-US" sz="2000" dirty="0"/>
            </a:br>
            <a:endParaRPr lang="en-US" sz="2000" dirty="0"/>
          </a:p>
          <a:p>
            <a:pPr marL="457200" lvl="1"/>
            <a:r>
              <a:rPr lang="en-US" sz="2000" dirty="0"/>
              <a:t>Resizing images to a uniform size</a:t>
            </a:r>
          </a:p>
          <a:p>
            <a:pPr marL="457200" lvl="1"/>
            <a:r>
              <a:rPr lang="en-US" sz="2000" dirty="0"/>
              <a:t>Normalizing pixel values</a:t>
            </a:r>
          </a:p>
          <a:p>
            <a:pPr marL="457200" lvl="1"/>
            <a:r>
              <a:rPr lang="en-US" sz="2000" dirty="0"/>
              <a:t>Augmenting data to increase diversity</a:t>
            </a:r>
          </a:p>
        </p:txBody>
      </p:sp>
    </p:spTree>
    <p:extLst>
      <p:ext uri="{BB962C8B-B14F-4D97-AF65-F5344CB8AC3E}">
        <p14:creationId xmlns:p14="http://schemas.microsoft.com/office/powerpoint/2010/main" val="695085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DEBDEB-A9E8-1DE5-A1F1-758145557402}"/>
              </a:ext>
            </a:extLst>
          </p:cNvPr>
          <p:cNvSpPr>
            <a:spLocks noGrp="1"/>
          </p:cNvSpPr>
          <p:nvPr>
            <p:ph type="title"/>
          </p:nvPr>
        </p:nvSpPr>
        <p:spPr>
          <a:xfrm>
            <a:off x="841248" y="548640"/>
            <a:ext cx="3600860" cy="5431536"/>
          </a:xfrm>
        </p:spPr>
        <p:txBody>
          <a:bodyPr vert="horz" lIns="91440" tIns="45720" rIns="91440" bIns="45720" rtlCol="0" anchor="ctr">
            <a:normAutofit/>
          </a:bodyPr>
          <a:lstStyle/>
          <a:p>
            <a:r>
              <a:rPr lang="en-US" sz="4600" kern="1200">
                <a:solidFill>
                  <a:schemeClr val="tx1"/>
                </a:solidFill>
                <a:latin typeface="+mj-lt"/>
                <a:ea typeface="+mj-ea"/>
                <a:cs typeface="+mj-cs"/>
              </a:rPr>
              <a:t>Convolutional Neural Network (CNN) Architecture</a:t>
            </a:r>
          </a:p>
        </p:txBody>
      </p:sp>
      <p:sp>
        <p:nvSpPr>
          <p:cNvPr id="1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7A936C6E-5FEC-755D-CEF7-1B8BD4F888B8}"/>
              </a:ext>
            </a:extLst>
          </p:cNvPr>
          <p:cNvSpPr>
            <a:spLocks noGrp="1"/>
          </p:cNvSpPr>
          <p:nvPr>
            <p:ph type="body" idx="1"/>
          </p:nvPr>
        </p:nvSpPr>
        <p:spPr>
          <a:xfrm>
            <a:off x="5126418" y="552091"/>
            <a:ext cx="6224335" cy="5431536"/>
          </a:xfrm>
        </p:spPr>
        <p:txBody>
          <a:bodyPr vert="horz" lIns="91440" tIns="45720" rIns="91440" bIns="45720" rtlCol="0" anchor="ctr">
            <a:normAutofit/>
          </a:bodyPr>
          <a:lstStyle/>
          <a:p>
            <a:r>
              <a:rPr lang="en-US" sz="2200" dirty="0"/>
              <a:t>Why CNN? </a:t>
            </a:r>
          </a:p>
          <a:p>
            <a:pPr marL="457200" lvl="1" indent="0">
              <a:buNone/>
            </a:pPr>
            <a:r>
              <a:rPr lang="en-US" sz="2000" dirty="0"/>
              <a:t>CNNs are effective for image classification tasks, capable of recognizing patterns and features in images.</a:t>
            </a:r>
            <a:br>
              <a:rPr lang="en-US" sz="1800" dirty="0"/>
            </a:br>
            <a:endParaRPr lang="en-US" sz="1800" dirty="0"/>
          </a:p>
          <a:p>
            <a:r>
              <a:rPr lang="en-US" sz="2200" b="1" dirty="0"/>
              <a:t>Models Used: </a:t>
            </a:r>
            <a:r>
              <a:rPr lang="en-US" sz="2200" dirty="0" err="1"/>
              <a:t>AlexNet</a:t>
            </a:r>
            <a:r>
              <a:rPr lang="en-US" sz="2200" dirty="0"/>
              <a:t>, </a:t>
            </a:r>
            <a:r>
              <a:rPr lang="en-US" sz="2200" dirty="0" err="1"/>
              <a:t>ResNet</a:t>
            </a:r>
            <a:r>
              <a:rPr lang="en-US" sz="2200" dirty="0"/>
              <a:t>, and VGG16</a:t>
            </a:r>
            <a:br>
              <a:rPr lang="en-US" sz="2200" dirty="0"/>
            </a:br>
            <a:endParaRPr lang="en-US" sz="2200" dirty="0"/>
          </a:p>
          <a:p>
            <a:r>
              <a:rPr lang="en-US" sz="2200" b="1" dirty="0"/>
              <a:t>Hyperparameters:</a:t>
            </a:r>
            <a:r>
              <a:rPr lang="en-US" sz="2200" dirty="0"/>
              <a:t> Batch size = 64, Image height = 240, Image width = 240</a:t>
            </a:r>
          </a:p>
        </p:txBody>
      </p:sp>
    </p:spTree>
    <p:extLst>
      <p:ext uri="{BB962C8B-B14F-4D97-AF65-F5344CB8AC3E}">
        <p14:creationId xmlns:p14="http://schemas.microsoft.com/office/powerpoint/2010/main" val="321682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D4660E-9717-0F45-AA21-E284417AC2CC}"/>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400" kern="1200">
                <a:solidFill>
                  <a:schemeClr val="tx1"/>
                </a:solidFill>
                <a:latin typeface="+mj-lt"/>
                <a:ea typeface="+mj-ea"/>
                <a:cs typeface="+mj-cs"/>
              </a:rPr>
              <a:t>AlexNet</a:t>
            </a:r>
          </a:p>
        </p:txBody>
      </p:sp>
      <p:sp>
        <p:nvSpPr>
          <p:cNvPr id="2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DF59D7CC-EC68-6E42-B7B8-180796330AA6}"/>
              </a:ext>
            </a:extLst>
          </p:cNvPr>
          <p:cNvSpPr>
            <a:spLocks noGrp="1"/>
          </p:cNvSpPr>
          <p:nvPr>
            <p:ph type="body" idx="1"/>
          </p:nvPr>
        </p:nvSpPr>
        <p:spPr>
          <a:xfrm>
            <a:off x="630936" y="2660904"/>
            <a:ext cx="4818888" cy="3547872"/>
          </a:xfrm>
        </p:spPr>
        <p:txBody>
          <a:bodyPr vert="horz" lIns="91440" tIns="45720" rIns="91440" bIns="45720" rtlCol="0" anchor="t">
            <a:normAutofit/>
          </a:bodyPr>
          <a:lstStyle/>
          <a:p>
            <a:r>
              <a:rPr lang="en-US" sz="2200" dirty="0"/>
              <a:t>It is used primarily for image recognition and classification tasks</a:t>
            </a:r>
          </a:p>
          <a:p>
            <a:r>
              <a:rPr lang="en-US" sz="2200" dirty="0"/>
              <a:t>The network contains eight layers; the first five are convolutional layers, some of them followed by max-pooling layers, and the last three are fully connected layers</a:t>
            </a:r>
          </a:p>
          <a:p>
            <a:r>
              <a:rPr lang="en-US" sz="2200"/>
              <a:t>AlexNet</a:t>
            </a:r>
            <a:r>
              <a:rPr lang="en-US" sz="2200" dirty="0"/>
              <a:t> uses </a:t>
            </a:r>
            <a:r>
              <a:rPr lang="en-US" sz="2200"/>
              <a:t>ReLU</a:t>
            </a:r>
            <a:r>
              <a:rPr lang="en-US" sz="2200" dirty="0"/>
              <a:t> activation functions and dropout regularization to prevent overfitting</a:t>
            </a:r>
          </a:p>
        </p:txBody>
      </p:sp>
      <p:pic>
        <p:nvPicPr>
          <p:cNvPr id="4" name="Picture 3">
            <a:extLst>
              <a:ext uri="{FF2B5EF4-FFF2-40B4-BE49-F238E27FC236}">
                <a16:creationId xmlns:a16="http://schemas.microsoft.com/office/drawing/2014/main" id="{16E6C9B1-D823-7E4C-AC6A-CEF6A462BAEC}"/>
              </a:ext>
            </a:extLst>
          </p:cNvPr>
          <p:cNvPicPr>
            <a:picLocks noChangeAspect="1"/>
          </p:cNvPicPr>
          <p:nvPr/>
        </p:nvPicPr>
        <p:blipFill>
          <a:blip r:embed="rId2"/>
          <a:stretch>
            <a:fillRect/>
          </a:stretch>
        </p:blipFill>
        <p:spPr>
          <a:xfrm>
            <a:off x="6099048" y="2303088"/>
            <a:ext cx="5458968" cy="2251824"/>
          </a:xfrm>
          <a:prstGeom prst="rect">
            <a:avLst/>
          </a:prstGeom>
        </p:spPr>
      </p:pic>
      <p:sp>
        <p:nvSpPr>
          <p:cNvPr id="5" name="TextBox 4">
            <a:extLst>
              <a:ext uri="{FF2B5EF4-FFF2-40B4-BE49-F238E27FC236}">
                <a16:creationId xmlns:a16="http://schemas.microsoft.com/office/drawing/2014/main" id="{E7C8BF96-35A1-1746-A43E-DFAD90DCB1AA}"/>
              </a:ext>
            </a:extLst>
          </p:cNvPr>
          <p:cNvSpPr txBox="1"/>
          <p:nvPr/>
        </p:nvSpPr>
        <p:spPr>
          <a:xfrm>
            <a:off x="9122442" y="6550223"/>
            <a:ext cx="3069558" cy="307777"/>
          </a:xfrm>
          <a:prstGeom prst="rect">
            <a:avLst/>
          </a:prstGeom>
          <a:noFill/>
        </p:spPr>
        <p:txBody>
          <a:bodyPr wrap="none" rtlCol="0">
            <a:spAutoFit/>
          </a:bodyPr>
          <a:lstStyle/>
          <a:p>
            <a:r>
              <a:rPr lang="en-US" sz="1400" b="1" i="1" dirty="0"/>
              <a:t>Image Source: </a:t>
            </a:r>
            <a:r>
              <a:rPr lang="en-US" sz="1400" i="1" dirty="0">
                <a:hlinkClick r:id="rId3"/>
              </a:rPr>
              <a:t>AlexNet Model Overview</a:t>
            </a:r>
            <a:endParaRPr lang="en-US" sz="1400" i="1" dirty="0"/>
          </a:p>
        </p:txBody>
      </p:sp>
      <p:sp>
        <p:nvSpPr>
          <p:cNvPr id="6" name="TextBox 5">
            <a:extLst>
              <a:ext uri="{FF2B5EF4-FFF2-40B4-BE49-F238E27FC236}">
                <a16:creationId xmlns:a16="http://schemas.microsoft.com/office/drawing/2014/main" id="{A35F1EFA-EAD3-0640-93CB-527346A9692B}"/>
              </a:ext>
            </a:extLst>
          </p:cNvPr>
          <p:cNvSpPr txBox="1"/>
          <p:nvPr/>
        </p:nvSpPr>
        <p:spPr>
          <a:xfrm>
            <a:off x="7403013" y="4554912"/>
            <a:ext cx="2851037" cy="369332"/>
          </a:xfrm>
          <a:prstGeom prst="rect">
            <a:avLst/>
          </a:prstGeom>
          <a:noFill/>
        </p:spPr>
        <p:txBody>
          <a:bodyPr wrap="none" rtlCol="0">
            <a:spAutoFit/>
          </a:bodyPr>
          <a:lstStyle/>
          <a:p>
            <a:r>
              <a:rPr lang="en-US" b="1" dirty="0" err="1"/>
              <a:t>AlexNet</a:t>
            </a:r>
            <a:r>
              <a:rPr lang="en-US" b="1" dirty="0"/>
              <a:t> Model Architecture</a:t>
            </a:r>
          </a:p>
        </p:txBody>
      </p:sp>
    </p:spTree>
    <p:extLst>
      <p:ext uri="{BB962C8B-B14F-4D97-AF65-F5344CB8AC3E}">
        <p14:creationId xmlns:p14="http://schemas.microsoft.com/office/powerpoint/2010/main" val="1722749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D4660E-9717-0F45-AA21-E284417AC2CC}"/>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400" kern="1200">
                <a:solidFill>
                  <a:schemeClr val="tx1"/>
                </a:solidFill>
                <a:latin typeface="+mj-lt"/>
                <a:ea typeface="+mj-ea"/>
                <a:cs typeface="+mj-cs"/>
              </a:rPr>
              <a:t>ResNet</a:t>
            </a:r>
          </a:p>
        </p:txBody>
      </p:sp>
      <p:sp>
        <p:nvSpPr>
          <p:cNvPr id="29"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DF59D7CC-EC68-6E42-B7B8-180796330AA6}"/>
              </a:ext>
            </a:extLst>
          </p:cNvPr>
          <p:cNvSpPr>
            <a:spLocks noGrp="1"/>
          </p:cNvSpPr>
          <p:nvPr>
            <p:ph type="body" idx="1"/>
          </p:nvPr>
        </p:nvSpPr>
        <p:spPr>
          <a:xfrm>
            <a:off x="630936" y="2660904"/>
            <a:ext cx="4818888" cy="3547872"/>
          </a:xfrm>
        </p:spPr>
        <p:txBody>
          <a:bodyPr vert="horz" lIns="91440" tIns="45720" rIns="91440" bIns="45720" rtlCol="0" anchor="t">
            <a:normAutofit/>
          </a:bodyPr>
          <a:lstStyle/>
          <a:p>
            <a:r>
              <a:rPr lang="en-US" sz="1700"/>
              <a:t>ResNet (Residual Network) is a deep learning-based model that uses residual connections to improve training performance and accuracy</a:t>
            </a:r>
          </a:p>
          <a:p>
            <a:r>
              <a:rPr lang="en-US" sz="1700"/>
              <a:t>The architecture of ResNet is designed to solve the problem of vanishing gradients that occurs when training deep neural networks</a:t>
            </a:r>
          </a:p>
          <a:p>
            <a:r>
              <a:rPr lang="en-US" sz="1700"/>
              <a:t>ResNet introduces the concept of residual blocks, which use skip connections to connect activations of a layer to further layers by skipping some layers in between</a:t>
            </a:r>
          </a:p>
          <a:p>
            <a:r>
              <a:rPr lang="en-US" sz="1700"/>
              <a:t>This forms a residual block, and ResNets are made by stacking these residual blocks together</a:t>
            </a:r>
          </a:p>
        </p:txBody>
      </p:sp>
      <p:pic>
        <p:nvPicPr>
          <p:cNvPr id="4" name="Picture 3">
            <a:extLst>
              <a:ext uri="{FF2B5EF4-FFF2-40B4-BE49-F238E27FC236}">
                <a16:creationId xmlns:a16="http://schemas.microsoft.com/office/drawing/2014/main" id="{BF3B8DB2-4EEA-3140-A63F-0CD8532C091B}"/>
              </a:ext>
            </a:extLst>
          </p:cNvPr>
          <p:cNvPicPr>
            <a:picLocks noChangeAspect="1"/>
          </p:cNvPicPr>
          <p:nvPr/>
        </p:nvPicPr>
        <p:blipFill>
          <a:blip r:embed="rId2"/>
          <a:stretch>
            <a:fillRect/>
          </a:stretch>
        </p:blipFill>
        <p:spPr>
          <a:xfrm>
            <a:off x="5449824" y="2761488"/>
            <a:ext cx="6577522" cy="2055475"/>
          </a:xfrm>
          <a:prstGeom prst="rect">
            <a:avLst/>
          </a:prstGeom>
        </p:spPr>
      </p:pic>
      <p:sp>
        <p:nvSpPr>
          <p:cNvPr id="20" name="TextBox 19">
            <a:extLst>
              <a:ext uri="{FF2B5EF4-FFF2-40B4-BE49-F238E27FC236}">
                <a16:creationId xmlns:a16="http://schemas.microsoft.com/office/drawing/2014/main" id="{19973574-7AD4-9045-AE14-3A6E82E29CEC}"/>
              </a:ext>
            </a:extLst>
          </p:cNvPr>
          <p:cNvSpPr txBox="1"/>
          <p:nvPr/>
        </p:nvSpPr>
        <p:spPr>
          <a:xfrm>
            <a:off x="9122442" y="6550223"/>
            <a:ext cx="3013967" cy="307777"/>
          </a:xfrm>
          <a:prstGeom prst="rect">
            <a:avLst/>
          </a:prstGeom>
          <a:noFill/>
        </p:spPr>
        <p:txBody>
          <a:bodyPr wrap="none" rtlCol="0">
            <a:spAutoFit/>
          </a:bodyPr>
          <a:lstStyle/>
          <a:p>
            <a:r>
              <a:rPr lang="en-US" sz="1400" b="1" i="1" dirty="0"/>
              <a:t>Image Source: </a:t>
            </a:r>
            <a:r>
              <a:rPr lang="en-US" sz="1400" i="1" dirty="0">
                <a:hlinkClick r:id="rId3"/>
              </a:rPr>
              <a:t>ResNet Model Overview</a:t>
            </a:r>
            <a:endParaRPr lang="en-US" sz="1400" i="1" dirty="0"/>
          </a:p>
        </p:txBody>
      </p:sp>
      <p:sp>
        <p:nvSpPr>
          <p:cNvPr id="21" name="TextBox 20">
            <a:extLst>
              <a:ext uri="{FF2B5EF4-FFF2-40B4-BE49-F238E27FC236}">
                <a16:creationId xmlns:a16="http://schemas.microsoft.com/office/drawing/2014/main" id="{0723C736-F0EA-8742-A541-E6ADCBD36952}"/>
              </a:ext>
            </a:extLst>
          </p:cNvPr>
          <p:cNvSpPr txBox="1"/>
          <p:nvPr/>
        </p:nvSpPr>
        <p:spPr>
          <a:xfrm>
            <a:off x="7353045" y="4632297"/>
            <a:ext cx="2771080" cy="369332"/>
          </a:xfrm>
          <a:prstGeom prst="rect">
            <a:avLst/>
          </a:prstGeom>
          <a:noFill/>
        </p:spPr>
        <p:txBody>
          <a:bodyPr wrap="none" rtlCol="0">
            <a:spAutoFit/>
          </a:bodyPr>
          <a:lstStyle/>
          <a:p>
            <a:r>
              <a:rPr lang="en-US" b="1" dirty="0" err="1"/>
              <a:t>ResNet</a:t>
            </a:r>
            <a:r>
              <a:rPr lang="en-US" b="1" dirty="0"/>
              <a:t> Model Architecture</a:t>
            </a:r>
          </a:p>
        </p:txBody>
      </p:sp>
    </p:spTree>
    <p:extLst>
      <p:ext uri="{BB962C8B-B14F-4D97-AF65-F5344CB8AC3E}">
        <p14:creationId xmlns:p14="http://schemas.microsoft.com/office/powerpoint/2010/main" val="2220342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D4660E-9717-0F45-AA21-E284417AC2CC}"/>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000" kern="1200">
                <a:solidFill>
                  <a:schemeClr val="tx1"/>
                </a:solidFill>
                <a:latin typeface="+mj-lt"/>
                <a:ea typeface="+mj-ea"/>
                <a:cs typeface="+mj-cs"/>
              </a:rPr>
              <a:t>Pretrained Model - VGG16</a:t>
            </a:r>
          </a:p>
        </p:txBody>
      </p:sp>
      <p:sp>
        <p:nvSpPr>
          <p:cNvPr id="3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2">
            <a:extLst>
              <a:ext uri="{FF2B5EF4-FFF2-40B4-BE49-F238E27FC236}">
                <a16:creationId xmlns:a16="http://schemas.microsoft.com/office/drawing/2014/main" id="{DF59D7CC-EC68-6E42-B7B8-180796330AA6}"/>
              </a:ext>
            </a:extLst>
          </p:cNvPr>
          <p:cNvSpPr>
            <a:spLocks noGrp="1"/>
          </p:cNvSpPr>
          <p:nvPr>
            <p:ph type="body" idx="1"/>
          </p:nvPr>
        </p:nvSpPr>
        <p:spPr>
          <a:xfrm>
            <a:off x="630936" y="2660904"/>
            <a:ext cx="4818888" cy="3547872"/>
          </a:xfrm>
        </p:spPr>
        <p:txBody>
          <a:bodyPr vert="horz" lIns="91440" tIns="45720" rIns="91440" bIns="45720" rtlCol="0" anchor="t">
            <a:normAutofit/>
          </a:bodyPr>
          <a:lstStyle/>
          <a:p>
            <a:r>
              <a:rPr lang="en-US" sz="1900" dirty="0"/>
              <a:t>VGG16 consists of 13 convolutional layers, 5 max-pooling layers, and 3 fully connected layers, making a total of 21 layers. Out of these, 16 are weight layers (convolutional and fully connected layers)</a:t>
            </a:r>
          </a:p>
          <a:p>
            <a:r>
              <a:rPr lang="en-US" sz="1900" dirty="0"/>
              <a:t>VGG16 emphasizes simplicity and uniformity by using small (3x3) convolutional filters consistently throughout the network</a:t>
            </a:r>
          </a:p>
          <a:p>
            <a:r>
              <a:rPr lang="en-US" sz="1900" dirty="0"/>
              <a:t>This design choice results in a deeper network with more layers, allowing the network to learn more complex features</a:t>
            </a:r>
          </a:p>
        </p:txBody>
      </p:sp>
      <p:pic>
        <p:nvPicPr>
          <p:cNvPr id="3" name="Picture 2">
            <a:extLst>
              <a:ext uri="{FF2B5EF4-FFF2-40B4-BE49-F238E27FC236}">
                <a16:creationId xmlns:a16="http://schemas.microsoft.com/office/drawing/2014/main" id="{E3ED7584-3815-8E44-B9FB-DD964EA99B2A}"/>
              </a:ext>
            </a:extLst>
          </p:cNvPr>
          <p:cNvPicPr>
            <a:picLocks noChangeAspect="1"/>
          </p:cNvPicPr>
          <p:nvPr/>
        </p:nvPicPr>
        <p:blipFill>
          <a:blip r:embed="rId2"/>
          <a:stretch>
            <a:fillRect/>
          </a:stretch>
        </p:blipFill>
        <p:spPr>
          <a:xfrm rot="5400000">
            <a:off x="5809180" y="2589530"/>
            <a:ext cx="6241983" cy="1678940"/>
          </a:xfrm>
          <a:prstGeom prst="rect">
            <a:avLst/>
          </a:prstGeom>
        </p:spPr>
      </p:pic>
      <p:sp>
        <p:nvSpPr>
          <p:cNvPr id="23" name="TextBox 22">
            <a:extLst>
              <a:ext uri="{FF2B5EF4-FFF2-40B4-BE49-F238E27FC236}">
                <a16:creationId xmlns:a16="http://schemas.microsoft.com/office/drawing/2014/main" id="{E0827200-1636-2B4C-9AC7-29B732B0935F}"/>
              </a:ext>
            </a:extLst>
          </p:cNvPr>
          <p:cNvSpPr txBox="1"/>
          <p:nvPr/>
        </p:nvSpPr>
        <p:spPr>
          <a:xfrm>
            <a:off x="0" y="6550223"/>
            <a:ext cx="3014287" cy="307777"/>
          </a:xfrm>
          <a:prstGeom prst="rect">
            <a:avLst/>
          </a:prstGeom>
          <a:noFill/>
        </p:spPr>
        <p:txBody>
          <a:bodyPr wrap="none" rtlCol="0">
            <a:spAutoFit/>
          </a:bodyPr>
          <a:lstStyle/>
          <a:p>
            <a:r>
              <a:rPr lang="en-US" sz="1400" b="1" i="1" dirty="0"/>
              <a:t>Image Source: </a:t>
            </a:r>
            <a:r>
              <a:rPr lang="en-US" sz="1400" i="1" dirty="0">
                <a:hlinkClick r:id="rId3"/>
              </a:rPr>
              <a:t>VGG16 Model Overview</a:t>
            </a:r>
            <a:endParaRPr lang="en-US" sz="1400" i="1" dirty="0"/>
          </a:p>
        </p:txBody>
      </p:sp>
      <p:sp>
        <p:nvSpPr>
          <p:cNvPr id="25" name="TextBox 24">
            <a:extLst>
              <a:ext uri="{FF2B5EF4-FFF2-40B4-BE49-F238E27FC236}">
                <a16:creationId xmlns:a16="http://schemas.microsoft.com/office/drawing/2014/main" id="{BF62C059-B5AD-5C47-9D94-F085DC4D009B}"/>
              </a:ext>
            </a:extLst>
          </p:cNvPr>
          <p:cNvSpPr txBox="1"/>
          <p:nvPr/>
        </p:nvSpPr>
        <p:spPr>
          <a:xfrm>
            <a:off x="7785251" y="6474676"/>
            <a:ext cx="2752869" cy="369332"/>
          </a:xfrm>
          <a:prstGeom prst="rect">
            <a:avLst/>
          </a:prstGeom>
          <a:noFill/>
        </p:spPr>
        <p:txBody>
          <a:bodyPr wrap="none" rtlCol="0">
            <a:spAutoFit/>
          </a:bodyPr>
          <a:lstStyle/>
          <a:p>
            <a:r>
              <a:rPr lang="en-US" b="1" dirty="0"/>
              <a:t>VGG16 Model Architecture</a:t>
            </a:r>
          </a:p>
        </p:txBody>
      </p:sp>
    </p:spTree>
    <p:extLst>
      <p:ext uri="{BB962C8B-B14F-4D97-AF65-F5344CB8AC3E}">
        <p14:creationId xmlns:p14="http://schemas.microsoft.com/office/powerpoint/2010/main" val="3532490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6B3B9CB-4C04-B749-793C-901052203DDA}"/>
              </a:ext>
            </a:extLst>
          </p:cNvPr>
          <p:cNvSpPr>
            <a:spLocks noGrp="1"/>
          </p:cNvSpPr>
          <p:nvPr>
            <p:ph type="title"/>
          </p:nvPr>
        </p:nvSpPr>
        <p:spPr>
          <a:xfrm>
            <a:off x="838200" y="253397"/>
            <a:ext cx="10515600" cy="1273233"/>
          </a:xfrm>
        </p:spPr>
        <p:txBody>
          <a:bodyPr vert="horz" lIns="91440" tIns="45720" rIns="91440" bIns="45720" rtlCol="0" anchor="ctr">
            <a:normAutofit/>
          </a:bodyPr>
          <a:lstStyle/>
          <a:p>
            <a:r>
              <a:rPr lang="en-US" sz="4000" kern="1200">
                <a:solidFill>
                  <a:schemeClr val="tx1"/>
                </a:solidFill>
                <a:latin typeface="+mj-lt"/>
                <a:ea typeface="+mj-ea"/>
                <a:cs typeface="+mj-cs"/>
              </a:rPr>
              <a:t>Training and Validation</a:t>
            </a:r>
          </a:p>
        </p:txBody>
      </p:sp>
      <p:sp>
        <p:nvSpPr>
          <p:cNvPr id="19"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A98F20E9-87D2-45C9-ED31-FE2F61C076A9}"/>
              </a:ext>
            </a:extLst>
          </p:cNvPr>
          <p:cNvSpPr>
            <a:spLocks noGrp="1"/>
          </p:cNvSpPr>
          <p:nvPr>
            <p:ph type="body" idx="1"/>
          </p:nvPr>
        </p:nvSpPr>
        <p:spPr>
          <a:xfrm>
            <a:off x="838200" y="2478024"/>
            <a:ext cx="10515600" cy="3694176"/>
          </a:xfrm>
        </p:spPr>
        <p:txBody>
          <a:bodyPr vert="horz" lIns="91440" tIns="45720" rIns="91440" bIns="45720" rtlCol="0">
            <a:normAutofit/>
          </a:bodyPr>
          <a:lstStyle/>
          <a:p>
            <a:r>
              <a:rPr lang="en-US" sz="2200" b="1" dirty="0"/>
              <a:t>Training Process: </a:t>
            </a:r>
            <a:r>
              <a:rPr lang="en-US" sz="2200" dirty="0"/>
              <a:t>Used TensorFlow and </a:t>
            </a:r>
            <a:r>
              <a:rPr lang="en-US" sz="2200" dirty="0" err="1"/>
              <a:t>Keras</a:t>
            </a:r>
            <a:r>
              <a:rPr lang="en-US" sz="2200" dirty="0"/>
              <a:t> libraries.</a:t>
            </a:r>
            <a:br>
              <a:rPr lang="en-US" sz="2200" dirty="0"/>
            </a:br>
            <a:endParaRPr lang="en-US" sz="2200" dirty="0"/>
          </a:p>
          <a:p>
            <a:r>
              <a:rPr lang="en-US" sz="2200" b="1" dirty="0"/>
              <a:t>Data Split: </a:t>
            </a:r>
            <a:r>
              <a:rPr lang="en-US" sz="2200" dirty="0"/>
              <a:t>Training (75%), validation(5%), and test sets(20%).</a:t>
            </a:r>
            <a:br>
              <a:rPr lang="en-US" sz="2200" dirty="0"/>
            </a:br>
            <a:endParaRPr lang="en-US" sz="2200" dirty="0"/>
          </a:p>
          <a:p>
            <a:r>
              <a:rPr lang="en-US" sz="2200" b="1" dirty="0"/>
              <a:t>Metrics:</a:t>
            </a:r>
            <a:r>
              <a:rPr lang="en-US" sz="2200" dirty="0"/>
              <a:t> Evaluated using accuracy and loss.</a:t>
            </a:r>
          </a:p>
        </p:txBody>
      </p:sp>
    </p:spTree>
    <p:extLst>
      <p:ext uri="{BB962C8B-B14F-4D97-AF65-F5344CB8AC3E}">
        <p14:creationId xmlns:p14="http://schemas.microsoft.com/office/powerpoint/2010/main" val="541820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DF1A630-2A9B-41A0-92F9-FDA261070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8" name="Rectangle 27">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064742-1EE0-3475-5E8B-FACBE130E2F9}"/>
              </a:ext>
            </a:extLst>
          </p:cNvPr>
          <p:cNvSpPr>
            <a:spLocks noGrp="1"/>
          </p:cNvSpPr>
          <p:nvPr>
            <p:ph type="title"/>
          </p:nvPr>
        </p:nvSpPr>
        <p:spPr>
          <a:xfrm>
            <a:off x="1057026" y="922644"/>
            <a:ext cx="4318164" cy="1169585"/>
          </a:xfrm>
        </p:spPr>
        <p:txBody>
          <a:bodyPr vert="horz" lIns="91440" tIns="45720" rIns="91440" bIns="45720" rtlCol="0" anchor="b">
            <a:normAutofit/>
          </a:bodyPr>
          <a:lstStyle/>
          <a:p>
            <a:r>
              <a:rPr lang="en-US" sz="4000" dirty="0"/>
              <a:t>Model Performance</a:t>
            </a:r>
          </a:p>
        </p:txBody>
      </p:sp>
      <p:sp>
        <p:nvSpPr>
          <p:cNvPr id="33" name="Rectangle 32">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005E32ED-FB24-9752-936A-5B8389DFBFB2}"/>
              </a:ext>
            </a:extLst>
          </p:cNvPr>
          <p:cNvSpPr>
            <a:spLocks noGrp="1"/>
          </p:cNvSpPr>
          <p:nvPr>
            <p:ph type="body" idx="1"/>
          </p:nvPr>
        </p:nvSpPr>
        <p:spPr>
          <a:xfrm>
            <a:off x="1055714" y="2376384"/>
            <a:ext cx="5040285" cy="1779690"/>
          </a:xfrm>
        </p:spPr>
        <p:txBody>
          <a:bodyPr vert="horz" lIns="91440" tIns="45720" rIns="91440" bIns="45720" rtlCol="0" anchor="ctr">
            <a:normAutofit fontScale="92500" lnSpcReduction="10000"/>
          </a:bodyPr>
          <a:lstStyle/>
          <a:p>
            <a:r>
              <a:rPr lang="en-US" sz="2000" b="1" dirty="0"/>
              <a:t>Accuracy and Loss Graphs: </a:t>
            </a:r>
            <a:r>
              <a:rPr lang="en-US" sz="2000" dirty="0"/>
              <a:t>Plotted training and validation accuracy/loss over 10 epochs.
</a:t>
            </a:r>
            <a:r>
              <a:rPr lang="en-US" sz="2000" b="1" dirty="0"/>
              <a:t>Key Metrics: </a:t>
            </a:r>
            <a:r>
              <a:rPr lang="en-US" sz="2000" dirty="0"/>
              <a:t>Model accuracy and loss values</a:t>
            </a:r>
          </a:p>
          <a:p>
            <a:r>
              <a:rPr lang="en-US" sz="2000" b="1" dirty="0"/>
              <a:t>Best Performer: </a:t>
            </a:r>
            <a:r>
              <a:rPr lang="en-US" sz="2000" dirty="0" err="1"/>
              <a:t>AlexNet</a:t>
            </a:r>
            <a:endParaRPr lang="en-US" sz="2000" dirty="0"/>
          </a:p>
        </p:txBody>
      </p:sp>
      <p:pic>
        <p:nvPicPr>
          <p:cNvPr id="9" name="Picture 8">
            <a:extLst>
              <a:ext uri="{FF2B5EF4-FFF2-40B4-BE49-F238E27FC236}">
                <a16:creationId xmlns:a16="http://schemas.microsoft.com/office/drawing/2014/main" id="{0B428D56-8956-D649-88EA-6255668CAAD8}"/>
              </a:ext>
            </a:extLst>
          </p:cNvPr>
          <p:cNvPicPr>
            <a:picLocks noChangeAspect="1"/>
          </p:cNvPicPr>
          <p:nvPr/>
        </p:nvPicPr>
        <p:blipFill rotWithShape="1">
          <a:blip r:embed="rId2"/>
          <a:srcRect r="-2" b="4426"/>
          <a:stretch/>
        </p:blipFill>
        <p:spPr>
          <a:xfrm>
            <a:off x="5993474" y="3332529"/>
            <a:ext cx="5579743" cy="2946301"/>
          </a:xfrm>
          <a:prstGeom prst="rect">
            <a:avLst/>
          </a:prstGeom>
        </p:spPr>
      </p:pic>
      <p:pic>
        <p:nvPicPr>
          <p:cNvPr id="7" name="Picture 6">
            <a:extLst>
              <a:ext uri="{FF2B5EF4-FFF2-40B4-BE49-F238E27FC236}">
                <a16:creationId xmlns:a16="http://schemas.microsoft.com/office/drawing/2014/main" id="{F4B4360D-5C51-0649-A08F-7B79FB6F2A01}"/>
              </a:ext>
            </a:extLst>
          </p:cNvPr>
          <p:cNvPicPr>
            <a:picLocks noChangeAspect="1"/>
          </p:cNvPicPr>
          <p:nvPr/>
        </p:nvPicPr>
        <p:blipFill rotWithShape="1">
          <a:blip r:embed="rId3"/>
          <a:srcRect r="-2" b="1545"/>
          <a:stretch/>
        </p:blipFill>
        <p:spPr>
          <a:xfrm>
            <a:off x="6120213" y="367853"/>
            <a:ext cx="5444304" cy="2867643"/>
          </a:xfrm>
          <a:prstGeom prst="rect">
            <a:avLst/>
          </a:prstGeom>
        </p:spPr>
      </p:pic>
      <p:pic>
        <p:nvPicPr>
          <p:cNvPr id="5" name="Picture 4">
            <a:extLst>
              <a:ext uri="{FF2B5EF4-FFF2-40B4-BE49-F238E27FC236}">
                <a16:creationId xmlns:a16="http://schemas.microsoft.com/office/drawing/2014/main" id="{22E4DAB1-AE00-6743-85A6-95492E42A7C8}"/>
              </a:ext>
            </a:extLst>
          </p:cNvPr>
          <p:cNvPicPr>
            <a:picLocks noChangeAspect="1"/>
          </p:cNvPicPr>
          <p:nvPr/>
        </p:nvPicPr>
        <p:blipFill rotWithShape="1">
          <a:blip r:embed="rId4"/>
          <a:srcRect r="408"/>
          <a:stretch/>
        </p:blipFill>
        <p:spPr>
          <a:xfrm>
            <a:off x="1178848" y="4036265"/>
            <a:ext cx="4476344" cy="2242565"/>
          </a:xfrm>
          <a:prstGeom prst="rect">
            <a:avLst/>
          </a:prstGeom>
        </p:spPr>
      </p:pic>
    </p:spTree>
    <p:extLst>
      <p:ext uri="{BB962C8B-B14F-4D97-AF65-F5344CB8AC3E}">
        <p14:creationId xmlns:p14="http://schemas.microsoft.com/office/powerpoint/2010/main" val="535300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1A3FB6-3CEB-1544-8EE7-C82A3645A8C7}"/>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400" kern="1200">
                <a:solidFill>
                  <a:schemeClr val="tx1"/>
                </a:solidFill>
                <a:latin typeface="+mj-lt"/>
                <a:ea typeface="+mj-ea"/>
                <a:cs typeface="+mj-cs"/>
              </a:rPr>
              <a:t>Results</a:t>
            </a:r>
          </a:p>
        </p:txBody>
      </p:sp>
      <p:sp>
        <p:nvSpPr>
          <p:cNvPr id="25"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49678598-EF49-7D4D-AE92-6D361C789EDC}"/>
              </a:ext>
            </a:extLst>
          </p:cNvPr>
          <p:cNvSpPr>
            <a:spLocks noGrp="1"/>
          </p:cNvSpPr>
          <p:nvPr>
            <p:ph type="body" idx="1"/>
          </p:nvPr>
        </p:nvSpPr>
        <p:spPr>
          <a:xfrm>
            <a:off x="630936" y="2660904"/>
            <a:ext cx="4818888" cy="3547872"/>
          </a:xfrm>
        </p:spPr>
        <p:txBody>
          <a:bodyPr vert="horz" lIns="91440" tIns="45720" rIns="91440" bIns="45720" rtlCol="0" anchor="t">
            <a:normAutofit fontScale="92500"/>
          </a:bodyPr>
          <a:lstStyle/>
          <a:p>
            <a:pPr marL="0"/>
            <a:r>
              <a:rPr lang="en-US" sz="2200" dirty="0"/>
              <a:t>Based on the accuracy table above, the </a:t>
            </a:r>
            <a:r>
              <a:rPr lang="en-US" sz="2200" dirty="0" err="1"/>
              <a:t>AlexNet</a:t>
            </a:r>
            <a:r>
              <a:rPr lang="en-US" sz="2200" dirty="0"/>
              <a:t> model demonstrates strong performance with a slight indication of overfitting during training. </a:t>
            </a:r>
          </a:p>
          <a:p>
            <a:pPr marL="0"/>
            <a:r>
              <a:rPr lang="en-US" sz="2200" dirty="0"/>
              <a:t>It achieves a significant accuracy score, qualifying it as a well-performing model suitable for deployment. </a:t>
            </a:r>
          </a:p>
          <a:p>
            <a:pPr marL="0"/>
            <a:r>
              <a:rPr lang="en-US" sz="2200" dirty="0"/>
              <a:t>In contrast, the other two models exhibit low accuracy scores and, therefore, are not viable candidates for deployment.</a:t>
            </a:r>
          </a:p>
        </p:txBody>
      </p:sp>
      <p:graphicFrame>
        <p:nvGraphicFramePr>
          <p:cNvPr id="4" name="Table 3">
            <a:extLst>
              <a:ext uri="{FF2B5EF4-FFF2-40B4-BE49-F238E27FC236}">
                <a16:creationId xmlns:a16="http://schemas.microsoft.com/office/drawing/2014/main" id="{3EBA1EB5-57CD-A449-AEF4-B9CBB2EDF74D}"/>
              </a:ext>
            </a:extLst>
          </p:cNvPr>
          <p:cNvGraphicFramePr>
            <a:graphicFrameLocks noGrp="1"/>
          </p:cNvGraphicFramePr>
          <p:nvPr>
            <p:extLst>
              <p:ext uri="{D42A27DB-BD31-4B8C-83A1-F6EECF244321}">
                <p14:modId xmlns:p14="http://schemas.microsoft.com/office/powerpoint/2010/main" val="1101495345"/>
              </p:ext>
            </p:extLst>
          </p:nvPr>
        </p:nvGraphicFramePr>
        <p:xfrm>
          <a:off x="6099048" y="2587579"/>
          <a:ext cx="5458968" cy="1682845"/>
        </p:xfrm>
        <a:graphic>
          <a:graphicData uri="http://schemas.openxmlformats.org/drawingml/2006/table">
            <a:tbl>
              <a:tblPr firstRow="1" bandRow="1">
                <a:noFill/>
                <a:tableStyleId>{5C22544A-7EE6-4342-B048-85BDC9FD1C3A}</a:tableStyleId>
              </a:tblPr>
              <a:tblGrid>
                <a:gridCol w="1342248">
                  <a:extLst>
                    <a:ext uri="{9D8B030D-6E8A-4147-A177-3AD203B41FA5}">
                      <a16:colId xmlns:a16="http://schemas.microsoft.com/office/drawing/2014/main" val="2216339935"/>
                    </a:ext>
                  </a:extLst>
                </a:gridCol>
                <a:gridCol w="1399630">
                  <a:extLst>
                    <a:ext uri="{9D8B030D-6E8A-4147-A177-3AD203B41FA5}">
                      <a16:colId xmlns:a16="http://schemas.microsoft.com/office/drawing/2014/main" val="2868407175"/>
                    </a:ext>
                  </a:extLst>
                </a:gridCol>
                <a:gridCol w="1358545">
                  <a:extLst>
                    <a:ext uri="{9D8B030D-6E8A-4147-A177-3AD203B41FA5}">
                      <a16:colId xmlns:a16="http://schemas.microsoft.com/office/drawing/2014/main" val="924137419"/>
                    </a:ext>
                  </a:extLst>
                </a:gridCol>
                <a:gridCol w="1358545">
                  <a:extLst>
                    <a:ext uri="{9D8B030D-6E8A-4147-A177-3AD203B41FA5}">
                      <a16:colId xmlns:a16="http://schemas.microsoft.com/office/drawing/2014/main" val="995284178"/>
                    </a:ext>
                  </a:extLst>
                </a:gridCol>
              </a:tblGrid>
              <a:tr h="631067">
                <a:tc>
                  <a:txBody>
                    <a:bodyPr/>
                    <a:lstStyle/>
                    <a:p>
                      <a:pPr algn="ctr"/>
                      <a:endParaRPr lang="en-US" sz="1900">
                        <a:solidFill>
                          <a:schemeClr val="tx1">
                            <a:lumMod val="75000"/>
                            <a:lumOff val="25000"/>
                          </a:schemeClr>
                        </a:solidFill>
                      </a:endParaRPr>
                    </a:p>
                  </a:txBody>
                  <a:tcPr marL="246510" marR="147906" marT="147906" marB="14790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ctr"/>
                      <a:r>
                        <a:rPr lang="en-US" sz="1900">
                          <a:solidFill>
                            <a:schemeClr val="tx1">
                              <a:lumMod val="75000"/>
                              <a:lumOff val="25000"/>
                            </a:schemeClr>
                          </a:solidFill>
                        </a:rPr>
                        <a:t>AlexNet</a:t>
                      </a:r>
                    </a:p>
                  </a:txBody>
                  <a:tcPr marL="246510" marR="147906" marT="147906" marB="14790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ctr"/>
                      <a:r>
                        <a:rPr lang="en-US" sz="1900">
                          <a:solidFill>
                            <a:schemeClr val="tx1">
                              <a:lumMod val="75000"/>
                              <a:lumOff val="25000"/>
                            </a:schemeClr>
                          </a:solidFill>
                        </a:rPr>
                        <a:t>ResNet</a:t>
                      </a:r>
                    </a:p>
                  </a:txBody>
                  <a:tcPr marL="246510" marR="147906" marT="147906" marB="14790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ctr"/>
                      <a:r>
                        <a:rPr lang="en-US" sz="1900">
                          <a:solidFill>
                            <a:schemeClr val="tx1">
                              <a:lumMod val="75000"/>
                              <a:lumOff val="25000"/>
                            </a:schemeClr>
                          </a:solidFill>
                        </a:rPr>
                        <a:t>VGG16</a:t>
                      </a:r>
                    </a:p>
                  </a:txBody>
                  <a:tcPr marL="246510" marR="147906" marT="147906" marB="147906">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1095135011"/>
                  </a:ext>
                </a:extLst>
              </a:tr>
              <a:tr h="525889">
                <a:tc>
                  <a:txBody>
                    <a:bodyPr/>
                    <a:lstStyle/>
                    <a:p>
                      <a:r>
                        <a:rPr lang="en-US" sz="1500">
                          <a:solidFill>
                            <a:schemeClr val="tx1">
                              <a:lumMod val="75000"/>
                              <a:lumOff val="25000"/>
                            </a:schemeClr>
                          </a:solidFill>
                        </a:rPr>
                        <a:t>Validation</a:t>
                      </a:r>
                    </a:p>
                  </a:txBody>
                  <a:tcPr marL="246510" marR="128185" marT="128185" marB="128185">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ctr"/>
                      <a:r>
                        <a:rPr lang="en-US" sz="1500">
                          <a:solidFill>
                            <a:schemeClr val="tx1">
                              <a:lumMod val="75000"/>
                              <a:lumOff val="25000"/>
                            </a:schemeClr>
                          </a:solidFill>
                        </a:rPr>
                        <a:t>0.899</a:t>
                      </a:r>
                    </a:p>
                  </a:txBody>
                  <a:tcPr marL="246510" marR="128185" marT="128185" marB="128185">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ctr"/>
                      <a:r>
                        <a:rPr lang="en-US" sz="1500">
                          <a:solidFill>
                            <a:schemeClr val="tx1">
                              <a:lumMod val="75000"/>
                              <a:lumOff val="25000"/>
                            </a:schemeClr>
                          </a:solidFill>
                        </a:rPr>
                        <a:t>0.372</a:t>
                      </a:r>
                    </a:p>
                  </a:txBody>
                  <a:tcPr marL="246510" marR="128185" marT="128185" marB="128185">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ctr"/>
                      <a:r>
                        <a:rPr lang="en-US" sz="1500">
                          <a:solidFill>
                            <a:schemeClr val="tx1">
                              <a:lumMod val="75000"/>
                              <a:lumOff val="25000"/>
                            </a:schemeClr>
                          </a:solidFill>
                        </a:rPr>
                        <a:t>0.210</a:t>
                      </a:r>
                    </a:p>
                  </a:txBody>
                  <a:tcPr marL="246510" marR="128185" marT="128185" marB="128185">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459261082"/>
                  </a:ext>
                </a:extLst>
              </a:tr>
              <a:tr h="525889">
                <a:tc>
                  <a:txBody>
                    <a:bodyPr/>
                    <a:lstStyle/>
                    <a:p>
                      <a:r>
                        <a:rPr lang="en-US" sz="1500">
                          <a:solidFill>
                            <a:schemeClr val="tx1">
                              <a:lumMod val="75000"/>
                              <a:lumOff val="25000"/>
                            </a:schemeClr>
                          </a:solidFill>
                        </a:rPr>
                        <a:t>Training</a:t>
                      </a:r>
                    </a:p>
                  </a:txBody>
                  <a:tcPr marL="246510" marR="128185" marT="128185" marB="128185">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ctr"/>
                      <a:r>
                        <a:rPr lang="en-US" sz="1500">
                          <a:solidFill>
                            <a:schemeClr val="tx1">
                              <a:lumMod val="75000"/>
                              <a:lumOff val="25000"/>
                            </a:schemeClr>
                          </a:solidFill>
                        </a:rPr>
                        <a:t>0.969</a:t>
                      </a:r>
                    </a:p>
                  </a:txBody>
                  <a:tcPr marL="246510" marR="128185" marT="128185" marB="128185">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ctr"/>
                      <a:r>
                        <a:rPr lang="en-US" sz="1500">
                          <a:solidFill>
                            <a:schemeClr val="tx1">
                              <a:lumMod val="75000"/>
                              <a:lumOff val="25000"/>
                            </a:schemeClr>
                          </a:solidFill>
                        </a:rPr>
                        <a:t>0.337</a:t>
                      </a:r>
                    </a:p>
                  </a:txBody>
                  <a:tcPr marL="246510" marR="128185" marT="128185" marB="128185">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ctr"/>
                      <a:r>
                        <a:rPr lang="en-US" sz="1500">
                          <a:solidFill>
                            <a:schemeClr val="tx1">
                              <a:lumMod val="75000"/>
                              <a:lumOff val="25000"/>
                            </a:schemeClr>
                          </a:solidFill>
                        </a:rPr>
                        <a:t>0.201</a:t>
                      </a:r>
                    </a:p>
                  </a:txBody>
                  <a:tcPr marL="246510" marR="128185" marT="128185" marB="128185">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968300829"/>
                  </a:ext>
                </a:extLst>
              </a:tr>
            </a:tbl>
          </a:graphicData>
        </a:graphic>
      </p:graphicFrame>
      <p:sp>
        <p:nvSpPr>
          <p:cNvPr id="5" name="TextBox 4">
            <a:extLst>
              <a:ext uri="{FF2B5EF4-FFF2-40B4-BE49-F238E27FC236}">
                <a16:creationId xmlns:a16="http://schemas.microsoft.com/office/drawing/2014/main" id="{3F65C146-23AD-AE4D-86E1-D629A4C05002}"/>
              </a:ext>
            </a:extLst>
          </p:cNvPr>
          <p:cNvSpPr txBox="1"/>
          <p:nvPr/>
        </p:nvSpPr>
        <p:spPr>
          <a:xfrm>
            <a:off x="7712040" y="2197346"/>
            <a:ext cx="2232984" cy="369332"/>
          </a:xfrm>
          <a:prstGeom prst="rect">
            <a:avLst/>
          </a:prstGeom>
          <a:noFill/>
        </p:spPr>
        <p:txBody>
          <a:bodyPr wrap="none" rtlCol="0">
            <a:spAutoFit/>
          </a:bodyPr>
          <a:lstStyle/>
          <a:p>
            <a:r>
              <a:rPr lang="en-US" dirty="0"/>
              <a:t>Model Accuracy Table</a:t>
            </a:r>
          </a:p>
        </p:txBody>
      </p:sp>
    </p:spTree>
    <p:extLst>
      <p:ext uri="{BB962C8B-B14F-4D97-AF65-F5344CB8AC3E}">
        <p14:creationId xmlns:p14="http://schemas.microsoft.com/office/powerpoint/2010/main" val="2871248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BE29D7-25DA-A6B4-74E2-2E277843BEC2}"/>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Model Deployment and Application</a:t>
            </a:r>
          </a:p>
        </p:txBody>
      </p:sp>
      <p:sp>
        <p:nvSpPr>
          <p:cNvPr id="3" name="Text Placeholder 2">
            <a:extLst>
              <a:ext uri="{FF2B5EF4-FFF2-40B4-BE49-F238E27FC236}">
                <a16:creationId xmlns:a16="http://schemas.microsoft.com/office/drawing/2014/main" id="{029BE8EE-0FDD-BE95-2D01-3648CF8FC9D7}"/>
              </a:ext>
            </a:extLst>
          </p:cNvPr>
          <p:cNvSpPr>
            <a:spLocks noGrp="1"/>
          </p:cNvSpPr>
          <p:nvPr>
            <p:ph type="body" idx="1"/>
          </p:nvPr>
        </p:nvSpPr>
        <p:spPr>
          <a:xfrm>
            <a:off x="4810259" y="649480"/>
            <a:ext cx="6555347" cy="5546047"/>
          </a:xfrm>
        </p:spPr>
        <p:txBody>
          <a:bodyPr vert="horz" lIns="91440" tIns="45720" rIns="91440" bIns="45720" rtlCol="0" anchor="ctr">
            <a:normAutofit/>
          </a:bodyPr>
          <a:lstStyle/>
          <a:p>
            <a:r>
              <a:rPr lang="en-US" sz="2000" b="1" dirty="0"/>
              <a:t>Integration with Camera System: </a:t>
            </a:r>
            <a:r>
              <a:rPr lang="en-US" sz="2000" dirty="0"/>
              <a:t>OpenCV and other required libraries, such as TensorFlow and </a:t>
            </a:r>
            <a:r>
              <a:rPr lang="en-US" sz="2000" dirty="0" err="1"/>
              <a:t>Keras</a:t>
            </a:r>
            <a:r>
              <a:rPr lang="en-US" sz="2000" dirty="0"/>
              <a:t>, should be installed on the system. The camera should be connected to the computer and verified to be working properly. A Python script should be written to capture video from the camera using OpenCV and process it using the deep learning model. The script should then be run and tested with the camera.</a:t>
            </a:r>
          </a:p>
          <a:p>
            <a:r>
              <a:rPr lang="en-US" sz="2000" b="1" dirty="0"/>
              <a:t>Real-World Application: </a:t>
            </a:r>
            <a:r>
              <a:rPr lang="en-US" sz="2000" dirty="0"/>
              <a:t>Potential use cases in enhancing road safety and reducing accidents by monitoring performance and optimizing fuel consumption.</a:t>
            </a:r>
          </a:p>
          <a:p>
            <a:r>
              <a:rPr lang="en-US" sz="2000" b="1" dirty="0"/>
              <a:t>Potential users: </a:t>
            </a:r>
            <a:r>
              <a:rPr lang="en-US" sz="2000" dirty="0"/>
              <a:t>Fleet Management, Insurance, Transportation and logistics, and Ride-hailing companies like Uber and Lyft to enhance riding experience for potential customers.</a:t>
            </a:r>
          </a:p>
        </p:txBody>
      </p:sp>
    </p:spTree>
    <p:extLst>
      <p:ext uri="{BB962C8B-B14F-4D97-AF65-F5344CB8AC3E}">
        <p14:creationId xmlns:p14="http://schemas.microsoft.com/office/powerpoint/2010/main" val="3983719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668</TotalTime>
  <Words>782</Words>
  <Application>Microsoft Macintosh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Times New Roman</vt:lpstr>
      <vt:lpstr>Office Theme</vt:lpstr>
      <vt:lpstr>Driver Behavior Detection using CNN</vt:lpstr>
      <vt:lpstr>Project Overview</vt:lpstr>
      <vt:lpstr>Significance of the Topic</vt:lpstr>
      <vt:lpstr>Data Collection and Preparation</vt:lpstr>
      <vt:lpstr>Data Preprocessing Techniques</vt:lpstr>
      <vt:lpstr>Convolutional Neural Network (CNN) Architecture</vt:lpstr>
      <vt:lpstr>AlexNet</vt:lpstr>
      <vt:lpstr>ResNet</vt:lpstr>
      <vt:lpstr>Pretrained Model - VGG16</vt:lpstr>
      <vt:lpstr>Training and Validation</vt:lpstr>
      <vt:lpstr>Model Performance</vt:lpstr>
      <vt:lpstr>Results</vt:lpstr>
      <vt:lpstr>Model Deployment and Application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Driver Behavior Detection using CNN</dc:title>
  <dc:creator>Alief,Reaid Mottakin</dc:creator>
  <cp:lastModifiedBy>Kabir,Ashikul</cp:lastModifiedBy>
  <cp:revision>68</cp:revision>
  <dcterms:created xsi:type="dcterms:W3CDTF">2024-06-15T02:10:56Z</dcterms:created>
  <dcterms:modified xsi:type="dcterms:W3CDTF">2026-03-13T06:59:37Z</dcterms:modified>
</cp:coreProperties>
</file>